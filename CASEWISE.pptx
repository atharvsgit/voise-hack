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Archivo Black" charset="1" panose="020B0A03020202020B04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2811" y="5219553"/>
            <a:ext cx="336609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466959" y="894768"/>
            <a:ext cx="16734430" cy="111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19"/>
              </a:lnSpc>
              <a:spcBef>
                <a:spcPct val="0"/>
              </a:spcBef>
            </a:pPr>
            <a:r>
              <a:rPr lang="en-US" sz="9897" spc="-781" u="sng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CASEWISE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5565" y="2449230"/>
            <a:ext cx="162306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Case-Based Reasoning for Surgical Pre-Planning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28740" y="6398459"/>
            <a:ext cx="461526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Vedang Srivastava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Atharv Dixit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Mayur Shenoy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Vedant Parasrampuria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3242" y="6398459"/>
            <a:ext cx="262374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1MS23IS143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1MS23IS155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1MS23IS066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1MS23IS144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296" y="159703"/>
            <a:ext cx="1603246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Challenge &amp; Our </a:t>
            </a: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296" y="2754250"/>
            <a:ext cx="6454577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ISSUES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Complex surgical decisions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Multiple patient variables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Scattered historical data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Isolated case knowledge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Time-intensive planning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Manual case searching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58230" y="2754250"/>
            <a:ext cx="6372027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CASEWISE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 SOLUTION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Intelligent matching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AI-powered retrieval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Unified knowledge base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1000s of cases accessible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Instant recommendations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2-4 second response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9491" y="2422280"/>
            <a:ext cx="8464805" cy="7470463"/>
          </a:xfrm>
          <a:custGeom>
            <a:avLst/>
            <a:gdLst/>
            <a:ahLst/>
            <a:cxnLst/>
            <a:rect r="r" b="b" t="t" l="l"/>
            <a:pathLst>
              <a:path h="7470463" w="8464805">
                <a:moveTo>
                  <a:pt x="0" y="0"/>
                </a:moveTo>
                <a:lnTo>
                  <a:pt x="8464806" y="0"/>
                </a:lnTo>
                <a:lnTo>
                  <a:pt x="8464806" y="7470463"/>
                </a:lnTo>
                <a:lnTo>
                  <a:pt x="0" y="7470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" t="0" r="-53" b="-47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1945" y="429305"/>
            <a:ext cx="1205944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CaseWise</a:t>
            </a: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3049" y="2567687"/>
            <a:ext cx="6216353" cy="789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9"/>
              </a:lnSpc>
            </a:pPr>
            <a:r>
              <a:rPr lang="en-US" sz="347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</a:t>
            </a:r>
            <a:r>
              <a:rPr lang="en-US" b="true" sz="3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Backend: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RESTful API design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Pydantic validation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Async request handling</a:t>
            </a:r>
          </a:p>
          <a:p>
            <a:pPr algn="ctr">
              <a:lnSpc>
                <a:spcPts val="4869"/>
              </a:lnSpc>
            </a:pPr>
            <a:r>
              <a:rPr lang="en-US" b="true" sz="3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Embedding Service: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OpenAI API integration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Batch processing support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768-dimensional vectors</a:t>
            </a:r>
          </a:p>
          <a:p>
            <a:pPr algn="ctr">
              <a:lnSpc>
                <a:spcPts val="4869"/>
              </a:lnSpc>
            </a:pPr>
            <a:r>
              <a:rPr lang="en-US" b="true" sz="34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 Layer: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SQLite for metadata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Qdrant for vectors</a:t>
            </a:r>
          </a:p>
          <a:p>
            <a:pPr algn="ctr" marL="750932" indent="-375466" lvl="1">
              <a:lnSpc>
                <a:spcPts val="4869"/>
              </a:lnSpc>
              <a:buFont typeface="Arial"/>
              <a:buChar char="•"/>
            </a:pPr>
            <a:r>
              <a:rPr lang="en-US" sz="3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Synchronized updates</a:t>
            </a:r>
          </a:p>
          <a:p>
            <a:pPr algn="ctr">
              <a:lnSpc>
                <a:spcPts val="486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2031" y="2330867"/>
            <a:ext cx="11095969" cy="7956133"/>
          </a:xfrm>
          <a:custGeom>
            <a:avLst/>
            <a:gdLst/>
            <a:ahLst/>
            <a:cxnLst/>
            <a:rect r="r" b="b" t="t" l="l"/>
            <a:pathLst>
              <a:path h="7956133" w="11095969">
                <a:moveTo>
                  <a:pt x="0" y="0"/>
                </a:moveTo>
                <a:lnTo>
                  <a:pt x="11095969" y="0"/>
                </a:lnTo>
                <a:lnTo>
                  <a:pt x="11095969" y="7956133"/>
                </a:lnTo>
                <a:lnTo>
                  <a:pt x="0" y="7956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739" t="-14824" r="-4663" b="-72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3291" y="458180"/>
            <a:ext cx="61050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291" y="4434970"/>
            <a:ext cx="4949627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ReactJs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OpenAi Embeddings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 API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Gemini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42276" y="2423794"/>
            <a:ext cx="11305450" cy="8050606"/>
          </a:xfrm>
          <a:custGeom>
            <a:avLst/>
            <a:gdLst/>
            <a:ahLst/>
            <a:cxnLst/>
            <a:rect r="r" b="b" t="t" l="l"/>
            <a:pathLst>
              <a:path h="8050606" w="11305450">
                <a:moveTo>
                  <a:pt x="0" y="0"/>
                </a:moveTo>
                <a:lnTo>
                  <a:pt x="11305450" y="0"/>
                </a:lnTo>
                <a:lnTo>
                  <a:pt x="11305450" y="8050606"/>
                </a:lnTo>
                <a:lnTo>
                  <a:pt x="0" y="805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05" t="-1865" r="0" b="-18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90701" y="857250"/>
            <a:ext cx="117570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</a:t>
            </a: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Makes It Smart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84875" y="2975865"/>
            <a:ext cx="13264748" cy="7311135"/>
          </a:xfrm>
          <a:custGeom>
            <a:avLst/>
            <a:gdLst/>
            <a:ahLst/>
            <a:cxnLst/>
            <a:rect r="r" b="b" t="t" l="l"/>
            <a:pathLst>
              <a:path h="7311135" w="13264748">
                <a:moveTo>
                  <a:pt x="0" y="0"/>
                </a:moveTo>
                <a:lnTo>
                  <a:pt x="13264748" y="0"/>
                </a:lnTo>
                <a:lnTo>
                  <a:pt x="13264748" y="7311135"/>
                </a:lnTo>
                <a:lnTo>
                  <a:pt x="0" y="7311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69" t="0" r="-640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7667" y="857250"/>
            <a:ext cx="940316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Transition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7689" y="-122450"/>
            <a:ext cx="18212027" cy="10244265"/>
          </a:xfrm>
          <a:custGeom>
            <a:avLst/>
            <a:gdLst/>
            <a:ahLst/>
            <a:cxnLst/>
            <a:rect r="r" b="b" t="t" l="l"/>
            <a:pathLst>
              <a:path h="10244265" w="18212027">
                <a:moveTo>
                  <a:pt x="0" y="0"/>
                </a:moveTo>
                <a:lnTo>
                  <a:pt x="18212028" y="0"/>
                </a:lnTo>
                <a:lnTo>
                  <a:pt x="18212028" y="10244265"/>
                </a:lnTo>
                <a:lnTo>
                  <a:pt x="0" y="10244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46508"/>
            <a:ext cx="18288000" cy="9823866"/>
          </a:xfrm>
          <a:custGeom>
            <a:avLst/>
            <a:gdLst/>
            <a:ahLst/>
            <a:cxnLst/>
            <a:rect r="r" b="b" t="t" l="l"/>
            <a:pathLst>
              <a:path h="9823866" w="18288000">
                <a:moveTo>
                  <a:pt x="0" y="0"/>
                </a:moveTo>
                <a:lnTo>
                  <a:pt x="18288000" y="0"/>
                </a:lnTo>
                <a:lnTo>
                  <a:pt x="18288000" y="9823866"/>
                </a:lnTo>
                <a:lnTo>
                  <a:pt x="0" y="982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57" r="0" b="-235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2808" y="857250"/>
            <a:ext cx="95224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3197" y="3403076"/>
            <a:ext cx="7741643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search and filtering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Multi-user collaboration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Role-based access control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Integration with hospital systems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Mobile app version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Dark mode toggle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Internationalization (i18n)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391" y="3993125"/>
            <a:ext cx="11113591" cy="241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9"/>
              </a:lnSpc>
            </a:pPr>
            <a:r>
              <a:rPr lang="en-US" sz="141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DAG59iKVbe0</dc:identifier>
  <dcterms:modified xsi:type="dcterms:W3CDTF">2011-08-01T06:04:30Z</dcterms:modified>
  <cp:revision>1</cp:revision>
  <dc:title>CASEWISE</dc:title>
</cp:coreProperties>
</file>